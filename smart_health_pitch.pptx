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45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80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chemeClr val="bg1">
              <a:alpha val="60000"/>
            </a:schemeClr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98080" y="1828800"/>
            <a:ext cx="2743200" cy="27432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58842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5219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221526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48640" y="304266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Insights — Automatically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64592" y="4114800"/>
            <a:ext cx="8979408" cy="1028700"/>
          </a:xfrm>
          <a:prstGeom prst="rect">
            <a:avLst/>
          </a:prstGeom>
          <a:solidFill>
            <a:srgbClr val="003B52"/>
          </a:solidFill>
          <a:ln w="12700">
            <a:solidFill>
              <a:srgbClr val="003B5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E7E6231-0255-2956-0C37-8351FDEE9F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73"/>
          <a:stretch>
            <a:fillRect/>
          </a:stretch>
        </p:blipFill>
        <p:spPr>
          <a:xfrm>
            <a:off x="7050638" y="-46776"/>
            <a:ext cx="1992163" cy="172573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084930B-3310-3BBF-B549-6982A9BDB9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743" b="6456"/>
          <a:stretch>
            <a:fillRect/>
          </a:stretch>
        </p:blipFill>
        <p:spPr>
          <a:xfrm>
            <a:off x="-61471" y="4258816"/>
            <a:ext cx="4353004" cy="818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93D"/>
          </a:solidFill>
          <a:ln w="12700">
            <a:solidFill>
              <a:srgbClr val="0029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B1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is Fragmented &amp; Underused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2148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Sources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" y="251460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systems, lab exports, PDFs, and free-text — all different formats, no common language.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508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91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148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0128" y="251460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requires heavy manual work — slow, error-prone, and impossible to scale.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50876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6080760" y="150876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2148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Insights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90488" y="251460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routine data sits unused. Predictive analytics, early warnings, and efficiency gains remain untapped.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1-2% efficiency gain equals to 1.6 billion in savings. This is doable.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4D61"/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B1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Data Harmonization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mapping · Automated ingestion · Interactive correction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72212"/>
            <a:ext cx="1920240" cy="2103120"/>
          </a:xfrm>
          <a:prstGeom prst="rect">
            <a:avLst/>
          </a:prstGeom>
          <a:solidFill>
            <a:srgbClr val="003B52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2272212"/>
            <a:ext cx="19202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455092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307688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Different Formats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34335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CSV, PDF, Excel, free text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0" y="3323772"/>
            <a:ext cx="228600" cy="0"/>
          </a:xfrm>
          <a:prstGeom prst="line">
            <a:avLst/>
          </a:prstGeom>
          <a:noFill/>
          <a:ln w="317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2377440" y="32140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B1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2272212"/>
            <a:ext cx="1920240" cy="2103120"/>
          </a:xfrm>
          <a:prstGeom prst="rect">
            <a:avLst/>
          </a:prstGeom>
          <a:solidFill>
            <a:srgbClr val="003B52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2514600" y="2272212"/>
            <a:ext cx="19202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2455092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87752" y="307688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Mapper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587752" y="34335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NLP + pattern recognition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Anomaly detection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34840" y="3323772"/>
            <a:ext cx="228600" cy="0"/>
          </a:xfrm>
          <a:prstGeom prst="line">
            <a:avLst/>
          </a:prstGeom>
          <a:noFill/>
          <a:ln w="317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5"/>
          <p:cNvSpPr/>
          <p:nvPr/>
        </p:nvSpPr>
        <p:spPr>
          <a:xfrm>
            <a:off x="4526280" y="32140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B1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12280" y="2272212"/>
            <a:ext cx="1920240" cy="2103120"/>
          </a:xfrm>
          <a:prstGeom prst="rect">
            <a:avLst/>
          </a:prstGeom>
          <a:solidFill>
            <a:srgbClr val="003B52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6812280" y="2272212"/>
            <a:ext cx="19202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455092"/>
            <a:ext cx="566928" cy="56692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85432" y="307688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Unified DB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85432" y="34335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A8D8D8"/>
                </a:solidFill>
              </a:rPr>
              <a:t>epaCC</a:t>
            </a:r>
            <a:r>
              <a:rPr lang="en-US" sz="1050" dirty="0">
                <a:solidFill>
                  <a:srgbClr val="A8D8D8"/>
                </a:solidFill>
              </a:rPr>
              <a:t> schema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583680" y="3323772"/>
            <a:ext cx="228600" cy="0"/>
          </a:xfrm>
          <a:prstGeom prst="line">
            <a:avLst/>
          </a:prstGeom>
          <a:noFill/>
          <a:ln w="317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1"/>
          <p:cNvSpPr/>
          <p:nvPr/>
        </p:nvSpPr>
        <p:spPr>
          <a:xfrm>
            <a:off x="6675120" y="32140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B1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663440" y="2272212"/>
            <a:ext cx="1920240" cy="2103120"/>
          </a:xfrm>
          <a:prstGeom prst="rect">
            <a:avLst/>
          </a:prstGeom>
          <a:solidFill>
            <a:srgbClr val="003B52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3"/>
          <p:cNvSpPr/>
          <p:nvPr/>
        </p:nvSpPr>
        <p:spPr>
          <a:xfrm>
            <a:off x="4663440" y="2272212"/>
            <a:ext cx="19202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2455092"/>
            <a:ext cx="566928" cy="56692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36592" y="307688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736592" y="34335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Mapping intervention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Error &amp; anomaly decisions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A8D8D8"/>
                </a:solidFill>
              </a:rPr>
              <a:t>Analytics &amp; alerts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293D"/>
          </a:solidFill>
          <a:ln w="12700">
            <a:solidFill>
              <a:srgbClr val="0029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B1"/>
                </a:solidFill>
              </a:rPr>
              <a:t>PRODUCT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Unified Web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78808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" y="1417319"/>
            <a:ext cx="45720" cy="3314699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48056" y="1515442"/>
            <a:ext cx="457200" cy="457200"/>
          </a:xfrm>
          <a:prstGeom prst="ellipse">
            <a:avLst/>
          </a:prstGeom>
          <a:solidFill>
            <a:srgbClr val="004D61"/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573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508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0293D"/>
                </a:solidFill>
                <a:latin typeface="Calibri" pitchFamily="34" charset="0"/>
                <a:cs typeface="Calibri" pitchFamily="34" charset="-120"/>
              </a:rPr>
              <a:t>Smart &amp; Assisted Data Mapping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33272" y="18562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automated, but allows for manual intervention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7448" y="1417320"/>
            <a:ext cx="4178808" cy="331469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4727448" y="1417319"/>
            <a:ext cx="45720" cy="3314697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855464" y="1511811"/>
            <a:ext cx="457200" cy="457200"/>
          </a:xfrm>
          <a:prstGeom prst="ellipse">
            <a:avLst/>
          </a:prstGeom>
          <a:solidFill>
            <a:srgbClr val="004D61"/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553757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508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93D"/>
                </a:solidFill>
                <a:latin typeface="Calibri" pitchFamily="34" charset="0"/>
                <a:cs typeface="Calibri" pitchFamily="34" charset="-120"/>
              </a:rPr>
              <a:t>Insightful Dashboard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40680" y="18562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scores, anomaly heatmaps, live status.</a:t>
            </a:r>
            <a:endParaRPr lang="en-US" sz="1050" dirty="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B09AD207-2B54-A24F-3B25-A50B7A9F6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19" y="2153412"/>
            <a:ext cx="3729600" cy="2613219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68D67DED-CD8B-A71D-A670-9BF0DE5A0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4368" y="2217443"/>
            <a:ext cx="4070687" cy="24978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4D61"/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B1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 at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697480" cy="2011680"/>
          </a:xfrm>
          <a:prstGeom prst="rect">
            <a:avLst/>
          </a:prstGeom>
          <a:solidFill>
            <a:srgbClr val="003B5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69748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€800M–1.6B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annual savings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1–2% DACH efficiency gain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89888"/>
            <a:ext cx="2697480" cy="2011680"/>
          </a:xfrm>
          <a:prstGeom prst="rect">
            <a:avLst/>
          </a:prstGeom>
          <a:solidFill>
            <a:srgbClr val="003B5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154680" y="1389888"/>
            <a:ext cx="269748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4612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23591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avoidable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via predictive care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89888"/>
            <a:ext cx="2697480" cy="2011680"/>
          </a:xfrm>
          <a:prstGeom prst="rect">
            <a:avLst/>
          </a:prstGeom>
          <a:solidFill>
            <a:srgbClr val="003B52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035040" y="1389888"/>
            <a:ext cx="269748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6480" y="1572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unpayable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3591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insights into health data and indefinite chances to use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84448"/>
            <a:ext cx="8595360" cy="1280160"/>
          </a:xfrm>
          <a:prstGeom prst="rect">
            <a:avLst/>
          </a:prstGeom>
          <a:solidFill>
            <a:srgbClr val="004D6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64571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3846283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care situations across 1,400+ institutions</a:t>
            </a:r>
            <a:endParaRPr lang="en-US" sz="10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864571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94760" y="3846283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advanced analytics &amp; AI model training for 630K users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64571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9400" y="3846283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product innovation with clean, unified data foundation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4D61">
              <a:alpha val="50000"/>
            </a:srgbClr>
          </a:solidFill>
          <a:ln w="12700">
            <a:solidFill>
              <a:srgbClr val="004D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217920" y="731520"/>
            <a:ext cx="3657600" cy="3657600"/>
          </a:xfrm>
          <a:prstGeom prst="ellipse">
            <a:avLst/>
          </a:prstGeom>
          <a:solidFill>
            <a:schemeClr val="bg1">
              <a:alpha val="3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436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173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 Data Mapping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20848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Healthcare Data. Unified. Intelligent. On-Premises.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AI-driven mapping across all formats and sources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dashboard with alerts &amp; manual correction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6027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offline capable — data stays in-house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4160520"/>
            <a:ext cx="3291840" cy="6583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65760" y="4160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4023360"/>
            <a:ext cx="2011680" cy="914400"/>
          </a:xfrm>
          <a:prstGeom prst="rect">
            <a:avLst/>
          </a:prstGeom>
          <a:solidFill>
            <a:srgbClr val="003B5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68580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</a:rPr>
              <a:t>epaSOLUTIONS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D8"/>
                </a:solidFill>
              </a:rPr>
              <a:t>Healthcare Data Platform</a:t>
            </a:r>
            <a:endParaRPr lang="en-US" sz="9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3D5ED2F-96DB-7DD2-AA54-1A1F50BA9E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73"/>
          <a:stretch>
            <a:fillRect/>
          </a:stretch>
        </p:blipFill>
        <p:spPr>
          <a:xfrm>
            <a:off x="6548177" y="1194209"/>
            <a:ext cx="2631325" cy="22794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Bildschirmpräsentation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Health Data Mapping</dc:title>
  <dc:subject>PptxGenJS Presentation</dc:subject>
  <dc:creator>PptxGenJS</dc:creator>
  <cp:lastModifiedBy>Martin Niels Fähnrich</cp:lastModifiedBy>
  <cp:revision>10</cp:revision>
  <dcterms:created xsi:type="dcterms:W3CDTF">2026-03-20T00:25:04Z</dcterms:created>
  <dcterms:modified xsi:type="dcterms:W3CDTF">2026-03-20T02:11:40Z</dcterms:modified>
</cp:coreProperties>
</file>